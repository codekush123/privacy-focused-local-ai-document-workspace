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'What is a decision tree?'.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'How is a tree built?'.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'Strengths and weaknesses'.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'Random forests'.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'Results'.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'Key takeaways'.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Decision Trees and Random Forests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Machine Learning - Lecture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decision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flowchart-like model: each internal node tests one feature</a:t>
            </a:r>
          </a:p>
          <a:p>
            <a:pPr>
              <a:defRPr sz="2200"/>
            </a:pPr>
            <a:r>
              <a:t>Each branch is an outcome of the test, each leaf is a prediction</a:t>
            </a:r>
          </a:p>
          <a:p>
            <a:pPr>
              <a:defRPr sz="2200"/>
            </a:pPr>
            <a:r>
              <a:t>Works for both classification and regression</a:t>
            </a:r>
          </a:p>
          <a:p>
            <a:pPr>
              <a:defRPr sz="2200"/>
            </a:pPr>
            <a:r>
              <a:t>Easy to interpret and visualise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is a tree built?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Greedy top-down splitting (CART algorithm)</a:t>
            </a:r>
          </a:p>
          <a:p>
            <a:pPr>
              <a:defRPr sz="2200"/>
            </a:pPr>
            <a:r>
              <a:t>Choose the split that best separates the classes</a:t>
            </a:r>
          </a:p>
          <a:p>
            <a:pPr>
              <a:defRPr sz="2200"/>
            </a:pPr>
            <a:r>
              <a:t>Impurity measures: Gini index and entropy (information gain)</a:t>
            </a:r>
          </a:p>
          <a:p>
            <a:pPr>
              <a:defRPr sz="2200"/>
            </a:pPr>
            <a:r>
              <a:t>Stop when nodes are pure, too small, or the maximum depth is reached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and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+ No feature scaling needed, handles mixed data types</a:t>
            </a:r>
          </a:p>
          <a:p>
            <a:pPr>
              <a:defRPr sz="2200"/>
            </a:pPr>
            <a:r>
              <a:t>+ Interpretable: the path from root to leaf explains the prediction</a:t>
            </a:r>
          </a:p>
          <a:p>
            <a:pPr>
              <a:defRPr sz="2200"/>
            </a:pPr>
            <a:r>
              <a:t>- A single deep tree overfits easily</a:t>
            </a:r>
          </a:p>
          <a:p>
            <a:pPr>
              <a:defRPr sz="2200"/>
            </a:pPr>
            <a:r>
              <a:t>- Small changes in data can produce a very different tree (high variance)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 ensemble of many decision trees</a:t>
            </a:r>
          </a:p>
          <a:p>
            <a:pPr>
              <a:defRPr sz="2200"/>
            </a:pPr>
            <a:r>
              <a:t>Each tree is trained on a bootstrap sample of the data (bagging)</a:t>
            </a:r>
          </a:p>
          <a:p>
            <a:pPr>
              <a:defRPr sz="2200"/>
            </a:pPr>
            <a:r>
              <a:t>At each split only a random subset of features is considered</a:t>
            </a:r>
          </a:p>
          <a:p>
            <a:pPr>
              <a:defRPr sz="2200"/>
            </a:pPr>
            <a:r>
              <a:t>Final prediction: majority vote (classification) or average (regression)</a:t>
            </a:r>
          </a:p>
          <a:p>
            <a:pPr>
              <a:defRPr sz="2200"/>
            </a:pPr>
            <a:r>
              <a:t>Reduces variance dramatically compared to a single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forests and neural networks performed best</a:t>
            </a:r>
          </a:p>
          <a:p>
            <a:pPr>
              <a:defRPr sz="2200"/>
            </a:pPr>
            <a:r>
              <a:t>See the accuracy chart on this slide</a:t>
            </a:r>
          </a:p>
        </p:txBody>
      </p:sp>
      <p:pic>
        <p:nvPicPr>
          <p:cNvPr id="4" name="Picture 3" descr="model_accura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3914335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Trees split data with simple feature tests</a:t>
            </a:r>
          </a:p>
          <a:p>
            <a:pPr>
              <a:defRPr sz="2200"/>
            </a:pPr>
            <a:r>
              <a:t>Gini and entropy measure how good a split is</a:t>
            </a:r>
          </a:p>
          <a:p>
            <a:pPr>
              <a:defRPr sz="2200"/>
            </a:pPr>
            <a:r>
              <a:t>Forests combine hundreds of trees for robust predictions</a:t>
            </a:r>
          </a:p>
          <a:p>
            <a:pPr>
              <a:defRPr sz="2200"/>
            </a:pPr>
            <a:r>
              <a:t>Verification code for this deck: TREE-2026-GAMMA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